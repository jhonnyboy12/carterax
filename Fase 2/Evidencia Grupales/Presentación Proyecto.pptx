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CarteraX, una solución de escritorio para la gestión de cobranza de Phoenix Service. Revisaremos el contexto, la aplicación, la arquitectura implementada y su proyección de costos.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centralizar la información, reducir carga manual, priorizar las gestiones de cobranza y mantener trazabilidad del trabajo de cada ejecutivo.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aplicación recibe el Excel o CSV, revisa el contenido, prioriza los casos de cobranza, facilita llamadas con Phoenix Mobile y registra lo realizado. La base de datos queda en el computador del ejecutivo.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pantallas son capturas reales de CarteraX: el panel de indicadores, el listado de clientes, la revisión de archivos importados y la cola de llamadas con registro de motivos.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las funciones principales están la importación con revisión, la búsqueda de clientes, la priorización de gestiones, las llamadas con un dispositivo Android, el seguimiento y la exportación de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CarteraX está construido con Electron y TypeScript. Usa SQLite embebido y SheetJS para los archivos. Phoenix Mobile está desarrollada en Kotlin, y la conexión entre PC y teléfono se realiza mediante HTTP sobre la red Wi-Fi local. La versión actual no necesita un servidor central.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datos es relacional y local. El esquema completo tiene 17 tablas. En el centro están usuarios, periodos, carteras, clientes, operaciones y gestiones; otras tablas almacenan medios de contacto, importaciones, recordatorios, sesiones y reportes. Se muestran relaciones generales simplificadas.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lógica distingue presentación, puente IPC, servicios, dominio e importación, y datos. La interfaz accede a los servicios mediante canales IPC. Se conserva íntegra la figura original del documento de arquitectura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de desarrollo describe la organización del repositorio y la cadena de construcción del escritorio, la aplicación Android y las pruebas. Se conserva íntegra la figura original del documento de arquitectura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de procesos muestra el renderer Chromium, el proceso principal de Electron, la base SQLite y Phoenix Mobile Android conectados por IPC y HTTP. Se conserva íntegra la figura original del documento de arquitectura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vista física muestra CarteraX y la base de datos local en el computador del ejecutivo, y el teléfono Android conectado por Wi-Fi. Se conserva íntegra la figura original del documento de arquitectura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escenarios cubren inicio de sesión, importación, dashboard, gestión de clientes, llamadas manuales o automáticas, recordatorios, reportes y configuración. Se conserva íntegra la figura original del documento de arquitectura 4+1.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Excel contempla una inversión inicial estimada de 12 millones 420 mil pesos, compuesta por 10 millones 750 mil de personal y un millón 670 mil de tecnología. También modela gastos de operación anuales y soporte técnico interno. Estas cifras son supuestos del proyecto y no equivalen al precio cobrado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cobro tiene una implementación de 3 millones y medio por única vez, una licencia de 40 mil pesos por ejecutivo y un mantenimiento fijo de 150 mil pesos al mes. Con cuatro ejecutivos, el ingreso mensual recurrente es 310 mil pesos. Implementación, licencia y soporte cubren conceptos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Excel proyecta un horizonte de cinco años. La inversión inicial es de 12,42 millones y los ejecutivos aumentan de 4 a 24. El flujo neto anual es positivo desde el primer año y el VAN estimado es de 10,01 millones, con una TIR de 36,90 por ciento, usando 12 por ciento de descuento. Son resultados condicionados a los supuestos del modelo financiero.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por su atención.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823960" y="91440"/>
            <a:ext cx="2926080" cy="2926080"/>
          </a:xfrm>
          <a:prstGeom prst="arc">
            <a:avLst/>
          </a:prstGeom>
          <a:solidFill>
            <a:srgbClr val="27324D">
              <a:alpha val="85000"/>
            </a:srgbClr>
          </a:solidFill>
          <a:ln w="12700">
            <a:solidFill>
              <a:srgbClr val="27324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7406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0A0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CAPSTONE  ·  PHOENIX SERVICE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4944" y="1316736"/>
            <a:ext cx="5303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CarteraX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13232" y="2468880"/>
            <a:ext cx="704088" cy="82296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743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5EAF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Gestión de cartera y cobranza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E5EAF3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para ejecutivos Phoenix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5413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spc="100" kern="0" dirty="0">
                <a:solidFill>
                  <a:srgbClr val="B5C2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   /    SOLUCIÓN    /    ARQUITECTURA    /    COSTOS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713232" y="603504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C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Jhonny Silva   ·   Cristobal Irarrazabal   ·   Diego Cruz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252728"/>
            <a:ext cx="5724144" cy="4069080"/>
          </a:xfrm>
          <a:prstGeom prst="roundRect">
            <a:avLst>
              <a:gd name="adj" fmla="val 4494"/>
            </a:avLst>
          </a:prstGeom>
          <a:solidFill>
            <a:srgbClr val="263450"/>
          </a:solidFill>
          <a:ln w="12700">
            <a:solidFill>
              <a:srgbClr val="263450">
                <a:alpha val="0"/>
              </a:srgbClr>
            </a:solidFill>
            <a:prstDash val="solid"/>
          </a:ln>
        </p:spPr>
      </p:sp>
      <p:pic>
        <p:nvPicPr>
          <p:cNvPr id="11" name="Image 0" descr="/mnt/data/carterax_assets/Modo claro /01_dashboard.png">    </p:cNvPr>
          <p:cNvPicPr>
            <a:picLocks noChangeAspect="1"/>
          </p:cNvPicPr>
          <p:nvPr/>
        </p:nvPicPr>
        <p:blipFill>
          <a:blip r:embed="rId1"/>
          <a:srcRect l="10890" r="10890" t="0" b="0"/>
          <a:stretch/>
        </p:blipFill>
        <p:spPr>
          <a:xfrm>
            <a:off x="6172200" y="1389888"/>
            <a:ext cx="5468112" cy="3611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805672" y="5330952"/>
            <a:ext cx="2468880" cy="310896"/>
          </a:xfrm>
          <a:prstGeom prst="roundRect">
            <a:avLst>
              <a:gd name="adj" fmla="val 47059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97112" y="53400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 ESCRITORIO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¿Para qué desarrollamos CarteraX?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operacionales de la solución de cobranza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76656" y="1865376"/>
            <a:ext cx="5266944" cy="153619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029968"/>
            <a:ext cx="493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26464" y="2029968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2441448"/>
            <a:ext cx="49011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Tener la información de cada cartera y de sus clientes en un solo sistema.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65376"/>
            <a:ext cx="5266944" cy="153619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029968"/>
            <a:ext cx="493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67728" y="2029968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Reducir tareas manuales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441448"/>
            <a:ext cx="49011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 y validar los archivos de cartera sin repetir trabajo de digitación.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" y="3639312"/>
            <a:ext cx="5266944" cy="153619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803904"/>
            <a:ext cx="493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426464" y="3803904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gestiones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215384"/>
            <a:ext cx="49011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Ordenar a los clientes según deuda, morosidad, estado e historial.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639312"/>
            <a:ext cx="5266944" cy="1536192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803904"/>
            <a:ext cx="493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67728" y="3803904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seguimiento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215384"/>
            <a:ext cx="49011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contactos, resultados, compromisos y recordatorios.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" y="5495544"/>
            <a:ext cx="10771632" cy="630936"/>
          </a:xfrm>
          <a:prstGeom prst="roundRect">
            <a:avLst>
              <a:gd name="adj" fmla="val 21739"/>
            </a:avLst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650992"/>
            <a:ext cx="10287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 ·  Agilizar la jornada del ejecutivo y mejorar el control sobre su cartera mensual.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¿Qué se hace y cuál es la solución?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un archivo mensual a una gestión de cobranza trazable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04088" y="1984248"/>
            <a:ext cx="1984248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2697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IMPORTAR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841248" y="30540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/ 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24912" y="2825496"/>
            <a:ext cx="155448" cy="0"/>
          </a:xfrm>
          <a:prstGeom prst="line">
            <a:avLst/>
          </a:prstGeom>
          <a:noFill/>
          <a:ln w="19050">
            <a:solidFill>
              <a:srgbClr val="E96A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1984248"/>
            <a:ext cx="1984248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63240" y="2697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310" dirty="0"/>
          </a:p>
        </p:txBody>
      </p:sp>
      <p:sp>
        <p:nvSpPr>
          <p:cNvPr id="17" name="Text 15"/>
          <p:cNvSpPr/>
          <p:nvPr/>
        </p:nvSpPr>
        <p:spPr>
          <a:xfrm>
            <a:off x="3063240" y="30540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 y columnas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46904" y="2825496"/>
            <a:ext cx="155448" cy="0"/>
          </a:xfrm>
          <a:prstGeom prst="line">
            <a:avLst/>
          </a:prstGeom>
          <a:noFill/>
          <a:ln w="19050">
            <a:solidFill>
              <a:srgbClr val="E96A2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48072" y="1984248"/>
            <a:ext cx="1984248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85232" y="2697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5285232" y="30540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Deuda y mora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68896" y="2825496"/>
            <a:ext cx="155448" cy="0"/>
          </a:xfrm>
          <a:prstGeom prst="line">
            <a:avLst/>
          </a:prstGeom>
          <a:noFill/>
          <a:ln w="19050">
            <a:solidFill>
              <a:srgbClr val="E96A2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70064" y="1984248"/>
            <a:ext cx="1984248" cy="1645920"/>
          </a:xfrm>
          <a:prstGeom prst="roundRect">
            <a:avLst>
              <a:gd name="adj" fmla="val 8333"/>
            </a:avLst>
          </a:prstGeom>
          <a:solidFill>
            <a:srgbClr val="FFF3E9"/>
          </a:solidFill>
          <a:ln w="10160">
            <a:solidFill>
              <a:srgbClr val="F7D8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07224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07224" y="2697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CONTACTAR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7507224" y="30540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Android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90888" y="2825496"/>
            <a:ext cx="155448" cy="0"/>
          </a:xfrm>
          <a:prstGeom prst="line">
            <a:avLst/>
          </a:prstGeom>
          <a:noFill/>
          <a:ln w="19050">
            <a:solidFill>
              <a:srgbClr val="E96A2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92056" y="1984248"/>
            <a:ext cx="1984248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9216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54D1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9216" y="269748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</a:t>
            </a:r>
            <a:endParaRPr lang="en-US" sz="1310" dirty="0"/>
          </a:p>
        </p:txBody>
      </p:sp>
      <p:sp>
        <p:nvSpPr>
          <p:cNvPr id="32" name="Text 30"/>
          <p:cNvSpPr/>
          <p:nvPr/>
        </p:nvSpPr>
        <p:spPr>
          <a:xfrm>
            <a:off x="9729216" y="3054096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y reporte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" y="4069080"/>
            <a:ext cx="10771632" cy="1444752"/>
          </a:xfrm>
          <a:prstGeom prst="roundRect">
            <a:avLst>
              <a:gd name="adj" fmla="val 9494"/>
            </a:avLst>
          </a:prstGeom>
          <a:solidFill>
            <a:srgbClr val="172039"/>
          </a:solidFill>
          <a:ln w="10160">
            <a:solidFill>
              <a:srgbClr val="1720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3159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3A5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0976" y="4663440"/>
            <a:ext cx="9966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CarteraX integra importación, gestión, llamadas y reportes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 una aplicación de escritorio.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13816" y="58247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datos se almacenan localmente en SQLite, en el equipo del ejecutivo.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APP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Interfaces reales de CarteraX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Capturas de la aplicación en modo claro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22376" y="1755648"/>
            <a:ext cx="5193792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Modo claro /01_dashboard.png">    </p:cNvPr>
          <p:cNvPicPr>
            <a:picLocks noChangeAspect="1"/>
          </p:cNvPicPr>
          <p:nvPr/>
        </p:nvPicPr>
        <p:blipFill>
          <a:blip r:embed="rId1"/>
          <a:srcRect l="0" r="0" t="13359" b="13359"/>
          <a:stretch/>
        </p:blipFill>
        <p:spPr>
          <a:xfrm>
            <a:off x="795528" y="1828800"/>
            <a:ext cx="5047488" cy="19110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767328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· indicadores y alertas</a:t>
            </a:r>
            <a:endParaRPr lang="en-US" sz="1110" dirty="0"/>
          </a:p>
        </p:txBody>
      </p:sp>
      <p:sp>
        <p:nvSpPr>
          <p:cNvPr id="12" name="Shape 9"/>
          <p:cNvSpPr/>
          <p:nvPr/>
        </p:nvSpPr>
        <p:spPr>
          <a:xfrm>
            <a:off x="6245352" y="1755648"/>
            <a:ext cx="5193792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3" name="Image 1" descr="/mnt/data/carterax_assets/Modo claro /05_clientes.png">    </p:cNvPr>
          <p:cNvPicPr>
            <a:picLocks noChangeAspect="1"/>
          </p:cNvPicPr>
          <p:nvPr/>
        </p:nvPicPr>
        <p:blipFill>
          <a:blip r:embed="rId2"/>
          <a:srcRect l="0" r="0" t="13359" b="13359"/>
          <a:stretch/>
        </p:blipFill>
        <p:spPr>
          <a:xfrm>
            <a:off x="6318504" y="1828800"/>
            <a:ext cx="5047488" cy="19110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1656" y="3767328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· filtros y prioridades</a:t>
            </a:r>
            <a:endParaRPr lang="en-US" sz="1110" dirty="0"/>
          </a:p>
        </p:txBody>
      </p:sp>
      <p:sp>
        <p:nvSpPr>
          <p:cNvPr id="15" name="Shape 11"/>
          <p:cNvSpPr/>
          <p:nvPr/>
        </p:nvSpPr>
        <p:spPr>
          <a:xfrm>
            <a:off x="722376" y="4105656"/>
            <a:ext cx="5193792" cy="2221992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6" name="Image 2" descr="/mnt/data/carterax_assets/Modo claro /07_importar_validacion.png">    </p:cNvPr>
          <p:cNvPicPr>
            <a:picLocks noChangeAspect="1"/>
          </p:cNvPicPr>
          <p:nvPr/>
        </p:nvPicPr>
        <p:blipFill>
          <a:blip r:embed="rId3"/>
          <a:srcRect l="0" r="0" t="15463" b="15463"/>
          <a:stretch/>
        </p:blipFill>
        <p:spPr>
          <a:xfrm>
            <a:off x="795528" y="4178808"/>
            <a:ext cx="5047488" cy="1801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6007608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Importación · revisión y validación</a:t>
            </a:r>
            <a:endParaRPr lang="en-US" sz="1110" dirty="0"/>
          </a:p>
        </p:txBody>
      </p:sp>
      <p:sp>
        <p:nvSpPr>
          <p:cNvPr id="18" name="Shape 13"/>
          <p:cNvSpPr/>
          <p:nvPr/>
        </p:nvSpPr>
        <p:spPr>
          <a:xfrm>
            <a:off x="6245352" y="4105656"/>
            <a:ext cx="5193792" cy="2221992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9" name="Image 3" descr="/mnt/data/carterax_assets/Modo claro /10_cola_llamando_motivos.png">    </p:cNvPr>
          <p:cNvPicPr>
            <a:picLocks noChangeAspect="1"/>
          </p:cNvPicPr>
          <p:nvPr/>
        </p:nvPicPr>
        <p:blipFill>
          <a:blip r:embed="rId4"/>
          <a:srcRect l="0" r="0" t="15463" b="15463"/>
          <a:stretch/>
        </p:blipFill>
        <p:spPr>
          <a:xfrm>
            <a:off x="6318504" y="4178808"/>
            <a:ext cx="5047488" cy="1801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91656" y="6007608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 de llamadas · seguimiento</a:t>
            </a:r>
            <a:endParaRPr lang="en-US" sz="11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APP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Funciones clave de la aplicación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Módulos principales documentados en la versión de arquitectura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" y="1801368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011680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06654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72184" y="201168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Importación validada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32688" y="2706624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y CSV; revisión de RUT, columnas y duplicados.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4471416" y="1801368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2011680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06654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8656" y="201168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clientes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2706624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Búsqueda, filtros, ficha y estados de cobranza.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8247888" y="1801368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49056" y="2011680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2066544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25128" y="2011680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85632" y="2706624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Puntaje de prioridad para ordenar la cartera.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694944" y="3849624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4059936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72184" y="40599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Android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2688" y="4754880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 automática y llamada manual con Phoenix Mobile.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4471416" y="3849624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72584" y="4059936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48656" y="40599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09160" y="4754880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Gestiones, compromisos y recordatorios.</a:t>
            </a:r>
            <a:endParaRPr lang="en-US" sz="1170" dirty="0"/>
          </a:p>
        </p:txBody>
      </p:sp>
      <p:sp>
        <p:nvSpPr>
          <p:cNvPr id="34" name="Shape 32"/>
          <p:cNvSpPr/>
          <p:nvPr/>
        </p:nvSpPr>
        <p:spPr>
          <a:xfrm>
            <a:off x="8247888" y="3849624"/>
            <a:ext cx="3529584" cy="1819656"/>
          </a:xfrm>
          <a:prstGeom prst="roundRect">
            <a:avLst>
              <a:gd name="adj" fmla="val 753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49056" y="4059936"/>
            <a:ext cx="466344" cy="466344"/>
          </a:xfrm>
          <a:prstGeom prst="ellipse">
            <a:avLst/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76488" y="4114800"/>
            <a:ext cx="402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25128" y="4059936"/>
            <a:ext cx="2505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85632" y="4754880"/>
            <a:ext cx="3072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Indicadores, cierres y exportaciones a Excel, PDF o CSV.</a:t>
            </a:r>
            <a:endParaRPr lang="en-US" sz="11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de escritorio, datos e integración móvil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3282696" cy="3621024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67128"/>
            <a:ext cx="2834640" cy="64008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2316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ESCRITORIO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" y="285292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 y lógica local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96696" y="3401568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9576" y="331012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 31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996696" y="3831336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373989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5.5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996696" y="4261104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4169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+ CSS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996696" y="4690872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9576" y="459943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integrado</a:t>
            </a:r>
            <a:endParaRPr lang="en-US" sz="1210" dirty="0"/>
          </a:p>
        </p:txBody>
      </p:sp>
      <p:sp>
        <p:nvSpPr>
          <p:cNvPr id="21" name="Shape 19"/>
          <p:cNvSpPr/>
          <p:nvPr/>
        </p:nvSpPr>
        <p:spPr>
          <a:xfrm>
            <a:off x="4462272" y="1938528"/>
            <a:ext cx="3282696" cy="3621024"/>
          </a:xfrm>
          <a:prstGeom prst="roundRect">
            <a:avLst>
              <a:gd name="adj" fmla="val 4178"/>
            </a:avLst>
          </a:prstGeom>
          <a:solidFill>
            <a:srgbClr val="FFF8F4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167128"/>
            <a:ext cx="2834640" cy="64008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42316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81728" y="285292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y archivos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727448" y="3401568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31012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local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4727448" y="3831336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73989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better-sqlite3</a:t>
            </a:r>
            <a:endParaRPr lang="en-US" sz="1210" dirty="0"/>
          </a:p>
        </p:txBody>
      </p:sp>
      <p:sp>
        <p:nvSpPr>
          <p:cNvPr id="29" name="Shape 27"/>
          <p:cNvSpPr/>
          <p:nvPr/>
        </p:nvSpPr>
        <p:spPr>
          <a:xfrm>
            <a:off x="4727448" y="4261104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4169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SheetJS (xlsx)</a:t>
            </a:r>
            <a:endParaRPr lang="en-US" sz="1210" dirty="0"/>
          </a:p>
        </p:txBody>
      </p:sp>
      <p:sp>
        <p:nvSpPr>
          <p:cNvPr id="31" name="Shape 29"/>
          <p:cNvSpPr/>
          <p:nvPr/>
        </p:nvSpPr>
        <p:spPr>
          <a:xfrm>
            <a:off x="4727448" y="4690872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459943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Transacciones ETL</a:t>
            </a:r>
            <a:endParaRPr lang="en-US" sz="1210" dirty="0"/>
          </a:p>
        </p:txBody>
      </p:sp>
      <p:sp>
        <p:nvSpPr>
          <p:cNvPr id="33" name="Shape 31"/>
          <p:cNvSpPr/>
          <p:nvPr/>
        </p:nvSpPr>
        <p:spPr>
          <a:xfrm>
            <a:off x="8193024" y="1938528"/>
            <a:ext cx="3282696" cy="3621024"/>
          </a:xfrm>
          <a:prstGeom prst="roundRect">
            <a:avLst>
              <a:gd name="adj" fmla="val 417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2167128"/>
            <a:ext cx="2834640" cy="64008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2423160"/>
            <a:ext cx="2807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PHOENIX MOBILE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2852928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Llamadas desde Android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8458200" y="3401568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3310128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Kotlin</a:t>
            </a:r>
            <a:endParaRPr lang="en-US" sz="1210" dirty="0"/>
          </a:p>
        </p:txBody>
      </p:sp>
      <p:sp>
        <p:nvSpPr>
          <p:cNvPr id="39" name="Shape 37"/>
          <p:cNvSpPr/>
          <p:nvPr/>
        </p:nvSpPr>
        <p:spPr>
          <a:xfrm>
            <a:off x="8458200" y="3831336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41080" y="3739896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SDK 34</a:t>
            </a:r>
            <a:endParaRPr lang="en-US" sz="1210" dirty="0"/>
          </a:p>
        </p:txBody>
      </p:sp>
      <p:sp>
        <p:nvSpPr>
          <p:cNvPr id="41" name="Shape 39"/>
          <p:cNvSpPr/>
          <p:nvPr/>
        </p:nvSpPr>
        <p:spPr>
          <a:xfrm>
            <a:off x="8458200" y="4261104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169664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local</a:t>
            </a:r>
            <a:endParaRPr lang="en-US" sz="1210" dirty="0"/>
          </a:p>
        </p:txBody>
      </p:sp>
      <p:sp>
        <p:nvSpPr>
          <p:cNvPr id="43" name="Shape 41"/>
          <p:cNvSpPr/>
          <p:nvPr/>
        </p:nvSpPr>
        <p:spPr>
          <a:xfrm>
            <a:off x="8458200" y="4690872"/>
            <a:ext cx="73152" cy="73152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41080" y="4599432"/>
            <a:ext cx="2468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/ JSON · puerto 8765</a:t>
            </a:r>
            <a:endParaRPr lang="en-US" sz="1210" dirty="0"/>
          </a:p>
        </p:txBody>
      </p:sp>
      <p:sp>
        <p:nvSpPr>
          <p:cNvPr id="45" name="Shape 43"/>
          <p:cNvSpPr/>
          <p:nvPr/>
        </p:nvSpPr>
        <p:spPr>
          <a:xfrm>
            <a:off x="4023360" y="3712464"/>
            <a:ext cx="365760" cy="0"/>
          </a:xfrm>
          <a:prstGeom prst="line">
            <a:avLst/>
          </a:prstGeom>
          <a:noFill/>
          <a:ln w="22860">
            <a:solidFill>
              <a:srgbClr val="C54D1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735824" y="3712464"/>
            <a:ext cx="384048" cy="0"/>
          </a:xfrm>
          <a:prstGeom prst="line">
            <a:avLst/>
          </a:prstGeom>
          <a:noFill/>
          <a:ln w="22860">
            <a:solidFill>
              <a:srgbClr val="C54D1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04672" y="5833872"/>
            <a:ext cx="4023360" cy="310896"/>
          </a:xfrm>
          <a:prstGeom prst="roundRect">
            <a:avLst>
              <a:gd name="adj" fmla="val 47059"/>
            </a:avLst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" y="5843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IPC ENTRE INTERFAZ Y SERVICIOS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7927848" y="5833872"/>
            <a:ext cx="3456432" cy="310896"/>
          </a:xfrm>
          <a:prstGeom prst="roundRect">
            <a:avLst>
              <a:gd name="adj" fmla="val 47059"/>
            </a:avLst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9288" y="5843016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SERVIDOR CENTRAL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Base de datos · modelo relacional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local, esquema v4 · 17 tablas organizadas por dominio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2459736"/>
            <a:ext cx="960120" cy="374904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68496" y="2459736"/>
            <a:ext cx="-868680" cy="374904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3154680"/>
            <a:ext cx="630936" cy="0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65976" y="3154680"/>
            <a:ext cx="758952" cy="0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75904" y="3447288"/>
            <a:ext cx="0" cy="621792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54312" y="3273552"/>
            <a:ext cx="1243584" cy="795528"/>
          </a:xfrm>
          <a:prstGeom prst="line">
            <a:avLst/>
          </a:prstGeom>
          <a:noFill/>
          <a:ln w="19050">
            <a:solidFill>
              <a:srgbClr val="A5ADB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" y="1856232"/>
            <a:ext cx="18288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1856232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63240" y="1856232"/>
            <a:ext cx="182880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1856232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9544" y="19842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65960" y="2825496"/>
            <a:ext cx="1920240" cy="621792"/>
          </a:xfrm>
          <a:prstGeom prst="roundRect">
            <a:avLst>
              <a:gd name="adj" fmla="val 22059"/>
            </a:avLst>
          </a:prstGeom>
          <a:solidFill>
            <a:srgbClr val="FFF3E9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2825496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12264" y="29535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17136" y="2825496"/>
            <a:ext cx="2148840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2825496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953512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cartera_clientes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24928" y="2825496"/>
            <a:ext cx="1929384" cy="621792"/>
          </a:xfrm>
          <a:prstGeom prst="roundRect">
            <a:avLst>
              <a:gd name="adj" fmla="val 22059"/>
            </a:avLst>
          </a:prstGeom>
          <a:solidFill>
            <a:srgbClr val="FFF3E9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2825496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2953512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24928" y="4069080"/>
            <a:ext cx="1929384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24928" y="4069080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4197096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65208" y="4069080"/>
            <a:ext cx="1847088" cy="621792"/>
          </a:xfrm>
          <a:prstGeom prst="roundRect">
            <a:avLst>
              <a:gd name="adj" fmla="val 22059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65208" y="4069080"/>
            <a:ext cx="59436" cy="62179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11512" y="4197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9536" y="5138928"/>
            <a:ext cx="10652760" cy="978408"/>
          </a:xfrm>
          <a:prstGeom prst="roundRect">
            <a:avLst>
              <a:gd name="adj" fmla="val 14019"/>
            </a:avLst>
          </a:prstGeom>
          <a:solidFill>
            <a:srgbClr val="172039"/>
          </a:solidFill>
          <a:ln w="10160">
            <a:solidFill>
              <a:srgbClr val="1720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9848" y="53126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0AA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TABLAS COMPLEMENTARIAS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69848" y="5614416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Teléfonos · correos · direcciones · vehículos · importaciones · errores · recordatorios · sesiones · reportes · configuración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Arquitectura 4+1 · Vista lógica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Organización por capas, módulos y responsabilidades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755648"/>
            <a:ext cx="10927080" cy="4416552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arquitectura_original/log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76" y="1874520"/>
            <a:ext cx="80010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ORIGINAL 3  ·  DOCUMENTO DE ARQUITECTURA 4+1  ·  PÁGINA 11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Arquitectura 4+1 · Vista de desarrollo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del código, compilación y distribución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755648"/>
            <a:ext cx="10927080" cy="4416552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arquitectura_original/desarrol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741" y="1874520"/>
            <a:ext cx="8921469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ORIGINAL 4  ·  DOCUMENTO DE ARQUITECTURA 4+1  ·  PÁGINA 13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Arquitectura 4+1 · Vista de procesos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Procesos en ejecución y mecanismos de comunicación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755648"/>
            <a:ext cx="10927080" cy="4416552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arquitectura_original/proce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788" y="1874520"/>
            <a:ext cx="9835376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ORIGINAL 5  ·  DOCUMENTO DE ARQUITECTURA 4+1  ·  PÁGINA 15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Arquitectura 4+1 · Vista física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de CarteraX y Phoenix Mobile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755648"/>
            <a:ext cx="10927080" cy="4416552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arquitectura_original/fis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788" y="1874520"/>
            <a:ext cx="9835376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ORIGINAL 8  ·  DOCUMENTO DE ARQUITECTURA 4+1  ·  PÁGINA 17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Arquitectura 4+1 · Escenarios (+1)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uso que integran y validan las cuatro vistas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" y="1755648"/>
            <a:ext cx="10927080" cy="4416552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pic>
        <p:nvPicPr>
          <p:cNvPr id="10" name="Image 0" descr="/mnt/data/carterax_assets/arquitectura_original/escenar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990" y="1874520"/>
            <a:ext cx="6904973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" y="62636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 ORIGINAL 2  ·  DOCUMENTO DE ARQUITECTURA 4+1  ·  PÁGINA 8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COSTOS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Distribución de la inversión inicial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Desglose de desarrollo y recursos tecnológicos según el Excel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22376" y="1856232"/>
            <a:ext cx="42062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856232"/>
            <a:ext cx="54864" cy="1371600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20391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$12.420.000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23544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Inversión total · Año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57216" y="1856232"/>
            <a:ext cx="30175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57216" y="1856232"/>
            <a:ext cx="54864" cy="1371600"/>
          </a:xfrm>
          <a:prstGeom prst="rect">
            <a:avLst/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20391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$10.750.000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58384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y desarrollo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85048" y="1856232"/>
            <a:ext cx="3054096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5048" y="1856232"/>
            <a:ext cx="54864" cy="1371600"/>
          </a:xfrm>
          <a:prstGeom prst="rect">
            <a:avLst/>
          </a:prstGeom>
          <a:solidFill>
            <a:srgbClr val="2D9A72"/>
          </a:solidFill>
          <a:ln w="12700">
            <a:solidFill>
              <a:srgbClr val="2D9A7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2039112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$1.670.000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86216" y="2615184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Costos tecnológicos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37307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PARTICIPACIÓN EN LA INVERSIÓN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" y="4151376"/>
            <a:ext cx="10570464" cy="630936"/>
          </a:xfrm>
          <a:prstGeom prst="roundRect">
            <a:avLst>
              <a:gd name="adj" fmla="val 17391"/>
            </a:avLst>
          </a:prstGeom>
          <a:solidFill>
            <a:srgbClr val="F1F4F8"/>
          </a:solidFill>
          <a:ln w="12700">
            <a:solidFill>
              <a:srgbClr val="F1F4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151376"/>
            <a:ext cx="9153144" cy="630936"/>
          </a:xfrm>
          <a:prstGeom prst="roundRect">
            <a:avLst>
              <a:gd name="adj" fmla="val 15942"/>
            </a:avLst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8672" y="4151376"/>
            <a:ext cx="1417320" cy="630936"/>
          </a:xfrm>
          <a:prstGeom prst="roundRect">
            <a:avLst>
              <a:gd name="adj" fmla="val 15942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5047488"/>
            <a:ext cx="3227832" cy="310896"/>
          </a:xfrm>
          <a:prstGeom prst="roundRect">
            <a:avLst>
              <a:gd name="adj" fmla="val 47059"/>
            </a:avLst>
          </a:prstGeom>
          <a:solidFill>
            <a:srgbClr val="FFF3E9"/>
          </a:solidFill>
          <a:ln w="12700">
            <a:solidFill>
              <a:srgbClr val="FFF3E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05663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86,6 % · Personal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242816" y="5047488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EAF0FA"/>
          </a:solidFill>
          <a:ln w="12700">
            <a:solidFill>
              <a:srgbClr val="EAF0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5056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13,4 % · Tecnología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77240" y="5669280"/>
            <a:ext cx="10607040" cy="493776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Gastos operativos anuales estimados: $250.000   ·   Soporte técnico interno anual: $400.000</a:t>
            </a:r>
            <a:endParaRPr lang="en-US" sz="12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COSTOS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Modelo de negocio · cobro a Phoenix 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implementación inicial y dos componentes de cobro recurrente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3232" y="1865376"/>
            <a:ext cx="3236976" cy="2871216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214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" y="277063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$3.500.000</a:t>
            </a:r>
            <a:endParaRPr lang="en-US" sz="2480" dirty="0"/>
          </a:p>
        </p:txBody>
      </p:sp>
      <p:sp>
        <p:nvSpPr>
          <p:cNvPr id="12" name="Text 10"/>
          <p:cNvSpPr/>
          <p:nvPr/>
        </p:nvSpPr>
        <p:spPr>
          <a:xfrm>
            <a:off x="905256" y="32735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Pago único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" y="38039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Desarrollo, configuración, instalación, pruebas y puesta en marcha.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489704" y="1865376"/>
            <a:ext cx="3236976" cy="2871216"/>
          </a:xfrm>
          <a:prstGeom prst="roundRect">
            <a:avLst>
              <a:gd name="adj" fmla="val 4777"/>
            </a:avLst>
          </a:prstGeom>
          <a:solidFill>
            <a:srgbClr val="FFF3E9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21214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LICENCIA POR EJECUTIVO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277063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$40.000</a:t>
            </a:r>
            <a:endParaRPr lang="en-US" sz="2480" dirty="0"/>
          </a:p>
        </p:txBody>
      </p:sp>
      <p:sp>
        <p:nvSpPr>
          <p:cNvPr id="17" name="Text 15"/>
          <p:cNvSpPr/>
          <p:nvPr/>
        </p:nvSpPr>
        <p:spPr>
          <a:xfrm>
            <a:off x="4681728" y="32735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ejecutivo / 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8039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Derecho de uso y acceso al sistema para cada ejecutivo.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257032" y="1865376"/>
            <a:ext cx="3236976" cy="2871216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2121408"/>
            <a:ext cx="2852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MANTENIMIENTO Y SOPORTE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30768" y="2770632"/>
            <a:ext cx="28346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8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$150.000</a:t>
            </a:r>
            <a:endParaRPr lang="en-US" sz="2480" dirty="0"/>
          </a:p>
        </p:txBody>
      </p:sp>
      <p:sp>
        <p:nvSpPr>
          <p:cNvPr id="22" name="Text 20"/>
          <p:cNvSpPr/>
          <p:nvPr/>
        </p:nvSpPr>
        <p:spPr>
          <a:xfrm>
            <a:off x="8449056" y="327355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Fijo / mes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49056" y="38039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Correcciones, respaldo, asistencia y actualizaciones menores.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22376" y="5120640"/>
            <a:ext cx="10744200" cy="978408"/>
          </a:xfrm>
          <a:prstGeom prst="roundRect">
            <a:avLst>
              <a:gd name="adj" fmla="val 14019"/>
            </a:avLst>
          </a:prstGeom>
          <a:solidFill>
            <a:srgbClr val="172039"/>
          </a:solidFill>
          <a:ln w="10160">
            <a:solidFill>
              <a:srgbClr val="1720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5294376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5B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EJEMPLO: 4 EJECUTIVOS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4160520" y="5330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× $40.000  +  $150.000  =</a:t>
            </a:r>
            <a:endParaRPr lang="en-US" sz="1730" dirty="0"/>
          </a:p>
        </p:txBody>
      </p:sp>
      <p:sp>
        <p:nvSpPr>
          <p:cNvPr id="27" name="Text 25"/>
          <p:cNvSpPr/>
          <p:nvPr/>
        </p:nvSpPr>
        <p:spPr>
          <a:xfrm>
            <a:off x="8485632" y="523036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$310.000 / mes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C54D1A"/>
          </a:solidFill>
          <a:ln w="12700">
            <a:solidFill>
              <a:srgbClr val="C54D1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338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COSTOS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10972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Flujo de caja y viabilidad económica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930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Proyección a 5 años · CLP · ejecutivos iniciales: 4, +5 por año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6528816"/>
            <a:ext cx="11018520" cy="0"/>
          </a:xfrm>
          <a:prstGeom prst="line">
            <a:avLst/>
          </a:prstGeom>
          <a:noFill/>
          <a:ln w="9525">
            <a:solidFill>
              <a:srgbClr val="E2E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CarteraX · Phoenix Service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5745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3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15/16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773936"/>
            <a:ext cx="2633472" cy="1024128"/>
          </a:xfrm>
          <a:prstGeom prst="roundRect">
            <a:avLst>
              <a:gd name="adj" fmla="val 13393"/>
            </a:avLst>
          </a:prstGeom>
          <a:solidFill>
            <a:srgbClr val="FFF3E9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47672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A93E1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$10,01 MM</a:t>
            </a:r>
            <a:endParaRPr lang="en-US" sz="2170" dirty="0"/>
          </a:p>
        </p:txBody>
      </p:sp>
      <p:sp>
        <p:nvSpPr>
          <p:cNvPr id="11" name="Text 9"/>
          <p:cNvSpPr/>
          <p:nvPr/>
        </p:nvSpPr>
        <p:spPr>
          <a:xfrm>
            <a:off x="859536" y="2377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47872" y="1773936"/>
            <a:ext cx="2633472" cy="1024128"/>
          </a:xfrm>
          <a:prstGeom prst="roundRect">
            <a:avLst>
              <a:gd name="adj" fmla="val 13393"/>
            </a:avLst>
          </a:prstGeom>
          <a:solidFill>
            <a:srgbClr val="FFF3E9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1947672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A93E1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36,90 %</a:t>
            </a:r>
            <a:endParaRPr lang="en-US" sz="2170" dirty="0"/>
          </a:p>
        </p:txBody>
      </p:sp>
      <p:sp>
        <p:nvSpPr>
          <p:cNvPr id="14" name="Text 12"/>
          <p:cNvSpPr/>
          <p:nvPr/>
        </p:nvSpPr>
        <p:spPr>
          <a:xfrm>
            <a:off x="3721608" y="2377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9944" y="1773936"/>
            <a:ext cx="2633472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47672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12 %</a:t>
            </a:r>
            <a:endParaRPr lang="en-US" sz="217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descuento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72016" y="1773936"/>
            <a:ext cx="2633472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1947672"/>
            <a:ext cx="22677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70" b="1" dirty="0">
                <a:solidFill>
                  <a:srgbClr val="17203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$12,42 MM</a:t>
            </a:r>
            <a:endParaRPr lang="en-US" sz="2170" dirty="0"/>
          </a:p>
        </p:txBody>
      </p:sp>
      <p:sp>
        <p:nvSpPr>
          <p:cNvPr id="20" name="Text 18"/>
          <p:cNvSpPr/>
          <p:nvPr/>
        </p:nvSpPr>
        <p:spPr>
          <a:xfrm>
            <a:off x="9445752" y="23774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Inversión inicial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" y="3090672"/>
            <a:ext cx="10789920" cy="2990088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016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3264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54D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PROYECCIÓN ANUAL · MILLONES DE PESOS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36192" y="4591074"/>
            <a:ext cx="365760" cy="904470"/>
          </a:xfrm>
          <a:prstGeom prst="roundRect">
            <a:avLst>
              <a:gd name="adj" fmla="val 2500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75104" y="4868848"/>
            <a:ext cx="365760" cy="626696"/>
          </a:xfrm>
          <a:prstGeom prst="roundRect">
            <a:avLst>
              <a:gd name="adj" fmla="val 2500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436247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7,22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64024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63040" y="557784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490472" y="5852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ejec.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02152" y="4728874"/>
            <a:ext cx="365760" cy="766670"/>
          </a:xfrm>
          <a:prstGeom prst="roundRect">
            <a:avLst>
              <a:gd name="adj" fmla="val 2500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41064" y="4972198"/>
            <a:ext cx="365760" cy="523346"/>
          </a:xfrm>
          <a:prstGeom prst="roundRect">
            <a:avLst>
              <a:gd name="adj" fmla="val 2500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450027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6,12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86200" y="474359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29000" y="557784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 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56432" y="5852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ejec.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68112" y="4428220"/>
            <a:ext cx="365760" cy="1067324"/>
          </a:xfrm>
          <a:prstGeom prst="roundRect">
            <a:avLst>
              <a:gd name="adj" fmla="val 2500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07024" y="4746707"/>
            <a:ext cx="365760" cy="748837"/>
          </a:xfrm>
          <a:prstGeom prst="roundRect">
            <a:avLst>
              <a:gd name="adj" fmla="val 2500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22392" y="41996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4518107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5,98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557784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 3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22392" y="5852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ejec.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34072" y="4127565"/>
            <a:ext cx="365760" cy="1367979"/>
          </a:xfrm>
          <a:prstGeom prst="roundRect">
            <a:avLst>
              <a:gd name="adj" fmla="val 2500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72984" y="4521216"/>
            <a:ext cx="365760" cy="974328"/>
          </a:xfrm>
          <a:prstGeom prst="roundRect">
            <a:avLst>
              <a:gd name="adj" fmla="val 2500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88352" y="3898965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10,92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18120" y="429261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7,78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60920" y="557784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 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88352" y="5852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ejec.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400032" y="3826910"/>
            <a:ext cx="365760" cy="1668634"/>
          </a:xfrm>
          <a:prstGeom prst="roundRect">
            <a:avLst>
              <a:gd name="adj" fmla="val 2500"/>
            </a:avLst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38944" y="4295725"/>
            <a:ext cx="365760" cy="1199819"/>
          </a:xfrm>
          <a:prstGeom prst="roundRect">
            <a:avLst>
              <a:gd name="adj" fmla="val 2500"/>
            </a:avLst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54312" y="359831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93E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13,32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784080" y="4067125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9,58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326880" y="5577840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Año 5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354312" y="585216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ejec.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24128" y="5495544"/>
            <a:ext cx="10067544" cy="0"/>
          </a:xfrm>
          <a:prstGeom prst="line">
            <a:avLst/>
          </a:prstGeom>
          <a:noFill/>
          <a:ln w="15240">
            <a:solidFill>
              <a:srgbClr val="E2E7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58200" y="3401568"/>
            <a:ext cx="128016" cy="128016"/>
          </a:xfrm>
          <a:prstGeom prst="ellipse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77656" y="3364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Ingresos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9656064" y="3401568"/>
            <a:ext cx="128016" cy="128016"/>
          </a:xfrm>
          <a:prstGeom prst="ellipse">
            <a:avLst/>
          </a:prstGeom>
          <a:solidFill>
            <a:srgbClr val="172039"/>
          </a:solidFill>
          <a:ln w="12700">
            <a:solidFill>
              <a:srgbClr val="172039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57232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624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neto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768096" y="6208776"/>
            <a:ext cx="10552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 y TIR calculados por el Excel; escenarios y tasas son supuestos editables, no resultados garantizados.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20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" y="1490472"/>
            <a:ext cx="109728" cy="3639312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048256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Muchas gracias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52144" y="3364992"/>
            <a:ext cx="1051560" cy="77724"/>
          </a:xfrm>
          <a:prstGeom prst="rect">
            <a:avLst/>
          </a:prstGeom>
          <a:solidFill>
            <a:srgbClr val="E96A26"/>
          </a:solidFill>
          <a:ln w="12700">
            <a:solidFill>
              <a:srgbClr val="E96A2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369417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1AE8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CarteraX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70432" y="60624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BEC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 Capstone · Phoenix Service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1009376" y="6537960"/>
            <a:ext cx="594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BEC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16/16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Proyecto Capstone Phoenix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CarteraX | Contexto, solución, arquitectura y costos</dc:title>
  <dc:subject>Presentación de CarteraX Phoenix para proyecto Capstone</dc:subject>
  <dc:creator>Equipo CarteraX</dc:creator>
  <cp:lastModifiedBy>Equipo CarteraX</cp:lastModifiedBy>
  <cp:revision>1</cp:revision>
  <dcterms:created xsi:type="dcterms:W3CDTF">2026-10-30T14:43:21Z</dcterms:created>
  <dcterms:modified xsi:type="dcterms:W3CDTF">2026-10-30T14:43:21Z</dcterms:modified>
</cp:coreProperties>
</file>